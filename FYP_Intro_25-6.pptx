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8"/>
  </p:notesMasterIdLst>
  <p:sldIdLst>
    <p:sldId id="256" r:id="rId6"/>
    <p:sldId id="712" r:id="rId7"/>
    <p:sldId id="278" r:id="rId8"/>
    <p:sldId id="262" r:id="rId9"/>
    <p:sldId id="276" r:id="rId10"/>
    <p:sldId id="257" r:id="rId11"/>
    <p:sldId id="273" r:id="rId12"/>
    <p:sldId id="258" r:id="rId13"/>
    <p:sldId id="263" r:id="rId14"/>
    <p:sldId id="271" r:id="rId15"/>
    <p:sldId id="713" r:id="rId16"/>
    <p:sldId id="269" r:id="rId17"/>
    <p:sldId id="267" r:id="rId18"/>
    <p:sldId id="270" r:id="rId19"/>
    <p:sldId id="268" r:id="rId20"/>
    <p:sldId id="274" r:id="rId21"/>
    <p:sldId id="275" r:id="rId22"/>
    <p:sldId id="259" r:id="rId23"/>
    <p:sldId id="260" r:id="rId24"/>
    <p:sldId id="261" r:id="rId25"/>
    <p:sldId id="265" r:id="rId26"/>
    <p:sldId id="266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477B0-7CA8-4522-81DA-6C87AE10E492}" v="15" dt="2025-09-19T18:18:32.192"/>
    <p1510:client id="{C80CFA27-40FB-45C9-B341-46E5C6C29A31}" v="362" dt="2025-09-19T17:53:44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9E5D8-2EF4-44E6-A51E-8A79A89D4833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2F8B5-D112-464E-9318-2E8E965682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114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83EA-1B37-DD13-C21E-72D40F5FF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FEEAE-9C20-AC77-AABB-3A82175B3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719A-40EE-1A29-37BA-5FE960EB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A2DCC-5FBC-A2BD-1EE8-4E7DCBC8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B385-33B2-75CD-8693-CC84D6BA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83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E216-A2F5-E9AE-1528-2F26DBA1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49E8-802B-A198-8B63-34C0EF14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E2F4-FF05-0715-380B-16873500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3B84E-866F-608B-57A0-F6992515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A3736-9451-2FB6-4767-E0366BE2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361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D19D-E97D-87DA-6AF6-9D49C51B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DC79-97F2-4A95-31AD-731C58E99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B163D-4145-7E8B-2851-3999F9E8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BDE6F-BFE9-6194-5F8A-E3E7DFBE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1A67A-1628-7761-C7DB-E9E7A9B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603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526-EEE3-5D72-DA9C-14BBB717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1C5BA-55D0-A7A6-8DBD-A06C6BB9D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E9047-23AD-364B-A28D-21EC01147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D806D-FBE1-57E8-3FC6-09A8380C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2ED9D-5CFE-B2C9-809C-159BA6CA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2B32E-5046-A428-2249-B82D8C8C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447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CC88-3859-D662-A878-CCCEA63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C409B-C260-1CD9-1283-FA1E42242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D6C6E-EF01-5048-04E2-E81EDA6C4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41C2D-F50F-5CC5-376E-6872CDA60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5AF1B-4C54-5537-BC97-CF6E2D202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0ABF8-DEDE-1191-3CC9-163F9CAB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4C7E9-8690-FDFE-094E-DC92C241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14639-F839-C031-6D4F-9FD10F51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99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FF29-8C36-4B6C-580E-8DDF757A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9AAE1-D454-5BAB-1C13-B58FE2AB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DA846-CD86-28EC-B688-70E48D62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900EA-AA1E-478F-3DFC-0042FFA9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875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393BE-0C8D-91C5-8429-963F3113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9A249-86BE-A5A4-1853-F9251104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8A415-04F1-31A9-12B9-805B4979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36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5A13-6980-CD1B-9716-A02FD1C8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2C6A-3452-6EEB-CACB-F2E4737C3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059AB-3CF0-5E61-D4CE-573222BDB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A16FF-28BC-FB75-E87C-3FC0D88B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D414B-994A-50F3-FBEC-9CFF2144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51640-12EB-A4FF-FF03-2D124346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97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7CFD-825F-428B-2016-79386ED1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B92DA-2CE3-5CA7-D790-C13E3E2BD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13EA5-A084-1839-F20C-546838B87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C8DBE-D78D-692C-B74F-085BBC47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DCD3D-C894-CA5E-54B1-65BDA87E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78F2C-EC7D-0290-0829-2DD6F852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721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9B86-CBB4-4B05-ADF4-F1EB7139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5B46-6499-80D9-9CEB-C4F7F867C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2DB8A-AB4D-6646-62BF-3E3FC22D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00092-98CA-7E8C-CDF1-FB496F3C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5DE93-8A62-C677-56C6-2FD6E86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5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58051-65AA-D2DE-1600-C0469E9C9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0343D-082D-3A8C-E6DA-84D86202C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4B14-8BE9-19DF-0582-B1D3ED8C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758F0-3DCA-D5BA-31D0-A064A5DF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547E0-4617-BD91-0259-0AB53719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9634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659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769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18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347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097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617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817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217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757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9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27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4214F-B203-BD22-AE92-8345B3FC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63AD-7871-A3DC-57BE-6797060CA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9D83E-1A40-BDF0-1F63-25D67AA4C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EDBFB-B061-4F39-878B-770844B64ADD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6E0B6-65E8-149D-763B-C5E5FD4A2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BF17C-0EB2-34D3-78EF-E70A72BCC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6BBEC-2C0B-4020-9A12-CF03D11D37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815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7405F-EFF3-4509-B2FB-9D92738FB7F2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9AC36-ECA2-44D2-81EC-96E89DFFE1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52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hyperlink" Target="https://pixabay.com/illustrations/administrator-sysadmin-sysop-1188494/" TargetMode="External"/><Relationship Id="rId7" Type="http://schemas.openxmlformats.org/officeDocument/2006/relationships/hyperlink" Target="mailto:mark.noone@mu.i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diarmuid.odonoghue@mu.ie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s.nuim.ie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4A41B-EE53-1874-AFFF-604791786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3777859"/>
            <a:ext cx="5946579" cy="1514185"/>
          </a:xfrm>
        </p:spPr>
        <p:txBody>
          <a:bodyPr anchor="t">
            <a:normAutofit/>
          </a:bodyPr>
          <a:lstStyle/>
          <a:p>
            <a:pPr algn="l"/>
            <a:r>
              <a:rPr lang="en-IE" sz="3400">
                <a:solidFill>
                  <a:schemeClr val="tx2"/>
                </a:solidFill>
              </a:rPr>
              <a:t>Computer Science</a:t>
            </a:r>
            <a:br>
              <a:rPr lang="en-IE" sz="3400">
                <a:solidFill>
                  <a:schemeClr val="tx2"/>
                </a:solidFill>
              </a:rPr>
            </a:br>
            <a:r>
              <a:rPr lang="en-IE" sz="3400">
                <a:solidFill>
                  <a:schemeClr val="tx2"/>
                </a:solidFill>
              </a:rPr>
              <a:t>Final Year Project</a:t>
            </a:r>
            <a:br>
              <a:rPr lang="en-IE" sz="3400">
                <a:solidFill>
                  <a:schemeClr val="tx2"/>
                </a:solidFill>
              </a:rPr>
            </a:br>
            <a:r>
              <a:rPr lang="en-IE" sz="3400">
                <a:solidFill>
                  <a:schemeClr val="tx2"/>
                </a:solidFill>
              </a:rPr>
              <a:t>2025-26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logo for a university&#10;&#10;AI-generated content may be incorrect.">
            <a:extLst>
              <a:ext uri="{FF2B5EF4-FFF2-40B4-BE49-F238E27FC236}">
                <a16:creationId xmlns:a16="http://schemas.microsoft.com/office/drawing/2014/main" id="{D4376B4C-474E-1E0C-CFC8-23DB9BFA1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442" y="177567"/>
            <a:ext cx="2316040" cy="1544027"/>
          </a:xfrm>
          <a:prstGeom prst="rect">
            <a:avLst/>
          </a:prstGeom>
        </p:spPr>
      </p:pic>
      <p:pic>
        <p:nvPicPr>
          <p:cNvPr id="6" name="Graphic 5" descr="Programmer">
            <a:extLst>
              <a:ext uri="{FF2B5EF4-FFF2-40B4-BE49-F238E27FC236}">
                <a16:creationId xmlns:a16="http://schemas.microsoft.com/office/drawing/2014/main" id="{3C7361C0-2B85-B324-2800-72C71B9FB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1037" y="3918973"/>
            <a:ext cx="2625205" cy="262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8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A8BFC9-2ECD-9F95-F975-A9647E5A1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8001000" y="441361"/>
            <a:ext cx="4183342" cy="2767106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30C1B2-899B-B5B5-B68D-60AD80558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7" r="17037"/>
          <a:stretch/>
        </p:blipFill>
        <p:spPr>
          <a:xfrm>
            <a:off x="7658" y="-2"/>
            <a:ext cx="4000500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4F6CBA6-8B88-3A63-40E4-39B50C88EE5A}"/>
              </a:ext>
            </a:extLst>
          </p:cNvPr>
          <p:cNvSpPr txBox="1"/>
          <p:nvPr/>
        </p:nvSpPr>
        <p:spPr>
          <a:xfrm>
            <a:off x="30443" y="5034202"/>
            <a:ext cx="3954929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prstClr val="white"/>
                </a:solidFill>
                <a:latin typeface="Calibri" panose="020F0502020204030204"/>
              </a:rPr>
              <a:t>Diarmuid O’Donoghue</a:t>
            </a:r>
          </a:p>
          <a:p>
            <a:pPr lvl="0" algn="ctr"/>
            <a:r>
              <a:rPr lang="en-IE" sz="2500" dirty="0">
                <a:hlinkClick r:id="rId6"/>
              </a:rPr>
              <a:t>diarmuid.odonoghue@mu.ie</a:t>
            </a:r>
            <a:endParaRPr lang="en-IE" sz="2500" dirty="0"/>
          </a:p>
          <a:p>
            <a:pPr lvl="0" algn="ctr"/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Coordinator</a:t>
            </a:r>
            <a:endParaRPr kumimoji="0" lang="en-IE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6905A9-1C9F-E66B-E0C1-C6B1287E8F8C}"/>
              </a:ext>
            </a:extLst>
          </p:cNvPr>
          <p:cNvSpPr txBox="1"/>
          <p:nvPr/>
        </p:nvSpPr>
        <p:spPr>
          <a:xfrm>
            <a:off x="4467990" y="5034203"/>
            <a:ext cx="32560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 Noone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mark.noone@mu.ie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Co-coordinator</a:t>
            </a:r>
            <a:endParaRPr kumimoji="0" lang="en-IE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01C4AE-88F9-6B9D-7712-191930D364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0525" y="13715"/>
            <a:ext cx="3800475" cy="37063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2101400-FCE3-374F-EB1B-268827ED29E9}"/>
              </a:ext>
            </a:extLst>
          </p:cNvPr>
          <p:cNvSpPr txBox="1"/>
          <p:nvPr/>
        </p:nvSpPr>
        <p:spPr>
          <a:xfrm>
            <a:off x="9067841" y="5034391"/>
            <a:ext cx="22477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Glen O’Keeffe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Administrator</a:t>
            </a:r>
            <a:endParaRPr kumimoji="0" lang="en-IE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26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2A2D3-C3E6-DE0C-D4ED-716B1427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dirty="0"/>
              <a:t>Supervisor, Course Coordinator and HOD</a:t>
            </a:r>
          </a:p>
        </p:txBody>
      </p:sp>
      <p:pic>
        <p:nvPicPr>
          <p:cNvPr id="7" name="Picture 6" descr="A person holding papers and a paper roll&#10;&#10;AI-generated content may be incorrect.">
            <a:extLst>
              <a:ext uri="{FF2B5EF4-FFF2-40B4-BE49-F238E27FC236}">
                <a16:creationId xmlns:a16="http://schemas.microsoft.com/office/drawing/2014/main" id="{5CEA74D5-96F4-784A-5E2D-D4EED252F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65" y="164592"/>
            <a:ext cx="3145357" cy="4087368"/>
          </a:xfrm>
          <a:prstGeom prst="rect">
            <a:avLst/>
          </a:prstGeom>
        </p:spPr>
      </p:pic>
      <p:pic>
        <p:nvPicPr>
          <p:cNvPr id="1026" name="Picture 2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38CDEE33-51CB-9607-ACAE-D26DC1ED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7571" y="304800"/>
            <a:ext cx="3758184" cy="376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7F17EA3A-6D66-57B9-0138-8E3A1BD07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454" y="968075"/>
            <a:ext cx="3758184" cy="2480401"/>
          </a:xfrm>
          <a:prstGeom prst="rect">
            <a:avLst/>
          </a:prstGeom>
        </p:spPr>
      </p:pic>
      <p:sp>
        <p:nvSpPr>
          <p:cNvPr id="1033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7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DC598-EC28-9D69-4B38-CDCDC0D2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tx2"/>
                </a:solidFill>
              </a:rPr>
              <a:t>What is a Final Year Project?</a:t>
            </a: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3D6EBC4E-7CAB-D645-AD26-D5A218B60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827E-1C98-150A-B693-DE5B9BF59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Your capstone project displays your creativity!</a:t>
            </a:r>
          </a:p>
          <a:p>
            <a:r>
              <a:rPr lang="en-IE" sz="1800" b="1" dirty="0">
                <a:solidFill>
                  <a:schemeClr val="tx2"/>
                </a:solidFill>
              </a:rPr>
              <a:t>You own your project. </a:t>
            </a:r>
          </a:p>
          <a:p>
            <a:pPr lvl="1"/>
            <a:r>
              <a:rPr lang="en-IE" sz="1800" dirty="0">
                <a:solidFill>
                  <a:schemeClr val="tx2"/>
                </a:solidFill>
              </a:rPr>
              <a:t>It is up to you to drive its progress.</a:t>
            </a:r>
          </a:p>
          <a:p>
            <a:r>
              <a:rPr lang="en-IE" sz="1800" dirty="0">
                <a:solidFill>
                  <a:schemeClr val="tx2"/>
                </a:solidFill>
              </a:rPr>
              <a:t>Your </a:t>
            </a:r>
            <a:r>
              <a:rPr lang="en-IE" sz="1800" b="1" dirty="0">
                <a:solidFill>
                  <a:schemeClr val="tx2"/>
                </a:solidFill>
              </a:rPr>
              <a:t>supervisor's </a:t>
            </a:r>
            <a:r>
              <a:rPr lang="en-IE" sz="1800" dirty="0">
                <a:solidFill>
                  <a:schemeClr val="tx2"/>
                </a:solidFill>
              </a:rPr>
              <a:t>role is to </a:t>
            </a:r>
            <a:r>
              <a:rPr lang="en-IE" sz="1800" b="1" dirty="0">
                <a:solidFill>
                  <a:schemeClr val="tx2"/>
                </a:solidFill>
              </a:rPr>
              <a:t>guide and advise </a:t>
            </a:r>
            <a:r>
              <a:rPr lang="en-IE" sz="1800" dirty="0">
                <a:solidFill>
                  <a:schemeClr val="tx2"/>
                </a:solidFill>
              </a:rPr>
              <a:t>you</a:t>
            </a:r>
          </a:p>
          <a:p>
            <a:r>
              <a:rPr lang="en-IE" sz="1800" dirty="0">
                <a:solidFill>
                  <a:schemeClr val="tx2"/>
                </a:solidFill>
              </a:rPr>
              <a:t>FYP is your chance to combine your collected abilities and display your own mastery of CS</a:t>
            </a:r>
          </a:p>
          <a:p>
            <a:pPr lvl="1"/>
            <a:r>
              <a:rPr lang="en-IE" sz="1800" dirty="0">
                <a:solidFill>
                  <a:schemeClr val="tx2"/>
                </a:solidFill>
              </a:rPr>
              <a:t>FYP outcomes will attest to your: time, effort, dedication, skill, persistence, wisdom, ability to take and seek guidance…</a:t>
            </a: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22879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932F-B6F4-9F26-7696-4B88EEA5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Project Deadline – March 16</a:t>
            </a:r>
            <a:r>
              <a:rPr lang="en-IE" baseline="30000" dirty="0"/>
              <a:t>th</a:t>
            </a:r>
            <a:r>
              <a:rPr lang="en-IE" dirty="0"/>
              <a:t> 2026 @ 23:59</a:t>
            </a:r>
          </a:p>
        </p:txBody>
      </p:sp>
      <p:pic>
        <p:nvPicPr>
          <p:cNvPr id="9" name="Picture 8" descr="A number of hours and hours&#10;&#10;AI-generated content may be incorrect.">
            <a:extLst>
              <a:ext uri="{FF2B5EF4-FFF2-40B4-BE49-F238E27FC236}">
                <a16:creationId xmlns:a16="http://schemas.microsoft.com/office/drawing/2014/main" id="{EE70C20F-1F20-87A3-EED5-93D87EAF5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49"/>
            <a:ext cx="12192000" cy="302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7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D3BB1-9111-6DBB-84EE-A9EC18934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tx2"/>
                </a:solidFill>
              </a:rPr>
              <a:t>Timeline and other deadlines</a:t>
            </a:r>
          </a:p>
        </p:txBody>
      </p:sp>
      <p:pic>
        <p:nvPicPr>
          <p:cNvPr id="7" name="Graphic 6" descr="Monthly calendar">
            <a:extLst>
              <a:ext uri="{FF2B5EF4-FFF2-40B4-BE49-F238E27FC236}">
                <a16:creationId xmlns:a16="http://schemas.microsoft.com/office/drawing/2014/main" id="{E7F7A31A-1577-F1F6-E63D-08A710F50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CA5C0-FFB7-66CB-140B-240BC4E5B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Start: 22nd September 2025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sz="1800" dirty="0">
                <a:solidFill>
                  <a:schemeClr val="tx2"/>
                </a:solidFill>
              </a:rPr>
              <a:t>The clock has already started</a:t>
            </a:r>
          </a:p>
          <a:p>
            <a:r>
              <a:rPr lang="en-IE" sz="1800" dirty="0">
                <a:solidFill>
                  <a:schemeClr val="tx2"/>
                </a:solidFill>
              </a:rPr>
              <a:t>Interim Report: 30th November 2025</a:t>
            </a:r>
          </a:p>
          <a:p>
            <a:r>
              <a:rPr lang="en-IE" sz="1800" dirty="0">
                <a:solidFill>
                  <a:schemeClr val="tx2"/>
                </a:solidFill>
              </a:rPr>
              <a:t>Final Report: 15th March 2025</a:t>
            </a:r>
          </a:p>
          <a:p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Deliverables: Thesis, codebase, video, results…</a:t>
            </a:r>
          </a:p>
          <a:p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Plan your year.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2248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458B-D5A2-9F59-4878-15070A4C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1C2A-5BAF-3377-BD0F-4509183D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ECTS and Hours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1F1B5-8FA0-C6F2-0F6B-9115102D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E" sz="2600" b="1" dirty="0">
                <a:solidFill>
                  <a:srgbClr val="FF0000"/>
                </a:solidFill>
              </a:rPr>
              <a:t>1 ECTS = 25-30 hours of work</a:t>
            </a:r>
          </a:p>
          <a:p>
            <a:endParaRPr lang="en-US" sz="2600" dirty="0"/>
          </a:p>
          <a:p>
            <a:r>
              <a:rPr lang="en-IE" sz="2600" b="1" dirty="0"/>
              <a:t>5 ECTS =&gt; 125-150 hours  </a:t>
            </a:r>
            <a:r>
              <a:rPr lang="en-IE" sz="2600" dirty="0"/>
              <a:t>= 3.5 x weeks x 40 hour (140 hrs)</a:t>
            </a:r>
            <a:endParaRPr lang="en-US" sz="2600" dirty="0"/>
          </a:p>
          <a:p>
            <a:r>
              <a:rPr lang="en-IE" sz="2600" b="1" dirty="0"/>
              <a:t>15 ECTS =&gt; 375-450 hours  </a:t>
            </a:r>
            <a:r>
              <a:rPr lang="en-IE" sz="2600" dirty="0"/>
              <a:t>= 10 weeks x 40 hour (400 hrs)</a:t>
            </a:r>
            <a:endParaRPr lang="en-US" sz="2600" dirty="0"/>
          </a:p>
          <a:p>
            <a:endParaRPr lang="en-IE" dirty="0"/>
          </a:p>
          <a:p>
            <a:r>
              <a:rPr lang="en-IE" dirty="0"/>
              <a:t>Plan your year - 24 weeks * 16 hours/week = 384, but…</a:t>
            </a:r>
          </a:p>
          <a:p>
            <a:pPr lvl="1"/>
            <a:r>
              <a:rPr lang="en-IE" dirty="0"/>
              <a:t>January exams.</a:t>
            </a:r>
          </a:p>
          <a:p>
            <a:pPr lvl="1"/>
            <a:r>
              <a:rPr lang="en-IE" dirty="0"/>
              <a:t>You may have much practical work due in December.</a:t>
            </a:r>
          </a:p>
          <a:p>
            <a:pPr lvl="1"/>
            <a:r>
              <a:rPr lang="en-IE" dirty="0"/>
              <a:t>How many hours will you work on your FYP during mid-term break? </a:t>
            </a:r>
          </a:p>
          <a:p>
            <a:pPr lvl="1"/>
            <a:r>
              <a:rPr lang="en-IE" dirty="0"/>
              <a:t>During the final weeks?</a:t>
            </a:r>
          </a:p>
        </p:txBody>
      </p:sp>
    </p:spTree>
    <p:extLst>
      <p:ext uri="{BB962C8B-B14F-4D97-AF65-F5344CB8AC3E}">
        <p14:creationId xmlns:p14="http://schemas.microsoft.com/office/powerpoint/2010/main" val="398459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itting around a table with a white sheet of paper&#10;&#10;AI-generated content may be incorrect.">
            <a:extLst>
              <a:ext uri="{FF2B5EF4-FFF2-40B4-BE49-F238E27FC236}">
                <a16:creationId xmlns:a16="http://schemas.microsoft.com/office/drawing/2014/main" id="{E3495EF6-94B5-D3CE-018E-2053C1B2D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13" r="2551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954F0-3430-E614-457F-EBB6621C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E" sz="4000"/>
              <a:t>FYP Part 1 – Find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F5BE-3D7D-D0D2-1F11-C60F63354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2000" dirty="0"/>
              <a:t>Find a project &amp; supervisor that suits you.</a:t>
            </a:r>
          </a:p>
          <a:p>
            <a:r>
              <a:rPr lang="en-IE" sz="2000" dirty="0"/>
              <a:t>At the start of week #3, students without projects will be </a:t>
            </a:r>
            <a:r>
              <a:rPr lang="en-IE" sz="2000" b="1" dirty="0"/>
              <a:t>allocated to supervisors</a:t>
            </a:r>
            <a:r>
              <a:rPr lang="en-IE" sz="2000" dirty="0"/>
              <a:t>.</a:t>
            </a:r>
          </a:p>
          <a:p>
            <a:r>
              <a:rPr lang="en-IE" sz="2000" dirty="0"/>
              <a:t>Make your choice while you can.</a:t>
            </a:r>
          </a:p>
          <a:p>
            <a:r>
              <a:rPr lang="en-IE" sz="2000" dirty="0"/>
              <a:t>Ensure </a:t>
            </a:r>
            <a:r>
              <a:rPr lang="en-IE" sz="2000" b="1" dirty="0"/>
              <a:t>weekly/regular meetings </a:t>
            </a:r>
            <a:r>
              <a:rPr lang="en-IE" sz="2000" dirty="0"/>
              <a:t>to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sz="2000" dirty="0"/>
              <a:t>1) report progress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sz="2000" dirty="0"/>
              <a:t>2) take guidance on your next steps</a:t>
            </a:r>
          </a:p>
          <a:p>
            <a:r>
              <a:rPr lang="en-IE" sz="2000" dirty="0"/>
              <a:t>Regular updates to </a:t>
            </a:r>
            <a:r>
              <a:rPr lang="en-IE" sz="2000" b="1" dirty="0">
                <a:hlinkClick r:id="rId3"/>
              </a:rPr>
              <a:t>GitLab</a:t>
            </a:r>
            <a:r>
              <a:rPr lang="en-IE" sz="2000" dirty="0"/>
              <a:t>, diary, etc..</a:t>
            </a:r>
          </a:p>
        </p:txBody>
      </p:sp>
    </p:spTree>
    <p:extLst>
      <p:ext uri="{BB962C8B-B14F-4D97-AF65-F5344CB8AC3E}">
        <p14:creationId xmlns:p14="http://schemas.microsoft.com/office/powerpoint/2010/main" val="273707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F92C63C0-A172-1A8F-9E39-857E3545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59" r="1478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333E9-4E4E-0BBF-085E-6A37DDCC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E" sz="4000"/>
              <a:t>Interim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EC80-FBC5-DFE4-7F58-069E6A45F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2000" b="1" dirty="0"/>
              <a:t>November 30</a:t>
            </a:r>
            <a:r>
              <a:rPr lang="en-IE" sz="2000" b="1" baseline="30000" dirty="0"/>
              <a:t>th</a:t>
            </a:r>
            <a:r>
              <a:rPr lang="en-IE" sz="2000" b="1" dirty="0"/>
              <a:t> 2025 (~8 weeks)</a:t>
            </a:r>
          </a:p>
          <a:p>
            <a:r>
              <a:rPr lang="en-IE" sz="2000" dirty="0"/>
              <a:t>2-page document</a:t>
            </a:r>
          </a:p>
          <a:p>
            <a:r>
              <a:rPr lang="en-IE" sz="2000" dirty="0"/>
              <a:t>Worth 5% of the overall grade</a:t>
            </a:r>
          </a:p>
          <a:p>
            <a:r>
              <a:rPr lang="en-IE" sz="2000" dirty="0"/>
              <a:t>Practise writing English and get some detailed feedback</a:t>
            </a:r>
          </a:p>
          <a:p>
            <a:r>
              <a:rPr lang="en-IE" sz="2000" dirty="0"/>
              <a:t>Describe work done</a:t>
            </a:r>
          </a:p>
          <a:p>
            <a:r>
              <a:rPr lang="en-IE" sz="2000" dirty="0"/>
              <a:t>Include evidence and some details</a:t>
            </a:r>
          </a:p>
          <a:p>
            <a:r>
              <a:rPr lang="en-IE" sz="2000" i="1" dirty="0"/>
              <a:t>Briefly </a:t>
            </a:r>
            <a:r>
              <a:rPr lang="en-IE" sz="2000" dirty="0"/>
              <a:t>outline your planned work</a:t>
            </a:r>
          </a:p>
          <a:p>
            <a:r>
              <a:rPr lang="en-IE" sz="2000" dirty="0"/>
              <a:t>Template will follow in a few weeks</a:t>
            </a:r>
          </a:p>
        </p:txBody>
      </p:sp>
    </p:spTree>
    <p:extLst>
      <p:ext uri="{BB962C8B-B14F-4D97-AF65-F5344CB8AC3E}">
        <p14:creationId xmlns:p14="http://schemas.microsoft.com/office/powerpoint/2010/main" val="357149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6F34-9D06-A531-3AB9-5EE7EBAC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FYP Exit Survey 2023-24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B272-AC12-489C-CBF1-134CBAA5D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139C7-5607-838F-0DF8-1BF5B40D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4" y="1684215"/>
            <a:ext cx="623475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1EB3D7-E302-ADE2-3F36-983B1423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68" y="1690688"/>
            <a:ext cx="5936991" cy="434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53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05C38-C2FB-2798-E344-BE61A2DE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tx2"/>
                </a:solidFill>
              </a:rPr>
              <a:t>FYP Lab</a:t>
            </a:r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129AB78D-0E79-ED6B-8B39-6FD1A853F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9D703-B942-FA67-5A48-174BD38B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Card Access should be available from Monday</a:t>
            </a:r>
          </a:p>
          <a:p>
            <a:r>
              <a:rPr lang="en-IE" sz="1800" dirty="0">
                <a:solidFill>
                  <a:schemeClr val="tx2"/>
                </a:solidFill>
              </a:rPr>
              <a:t>You should have a project before using the lab</a:t>
            </a:r>
          </a:p>
          <a:p>
            <a:r>
              <a:rPr lang="en-IE" sz="1800" dirty="0">
                <a:solidFill>
                  <a:schemeClr val="tx2"/>
                </a:solidFill>
              </a:rPr>
              <a:t>Docking stations + some machines</a:t>
            </a:r>
          </a:p>
          <a:p>
            <a:r>
              <a:rPr lang="en-IE" sz="1800" dirty="0">
                <a:solidFill>
                  <a:schemeClr val="tx2"/>
                </a:solidFill>
              </a:rPr>
              <a:t>Some projects come with specialist machine requirements -&gt; discuss with supervisor if relevant (mostly Machine Learning / AI / intensive programs)</a:t>
            </a:r>
          </a:p>
          <a:p>
            <a:r>
              <a:rPr lang="en-IE" sz="1800" dirty="0">
                <a:solidFill>
                  <a:schemeClr val="tx2"/>
                </a:solidFill>
              </a:rPr>
              <a:t>We and/or James Cotter will be in touch with more details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659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99F2-F6A9-B941-B1B0-B83F8B07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E7363-BF3D-6B3A-2265-40C0C1BB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80" y="479875"/>
            <a:ext cx="11169186" cy="6247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C35754-9538-0197-721F-AFDFE82B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E" sz="5400" b="1" dirty="0"/>
              <a:t>From </a:t>
            </a:r>
            <a:r>
              <a:rPr lang="en-IE" sz="5400" b="1"/>
              <a:t>Previous </a:t>
            </a:r>
            <a:r>
              <a:rPr lang="en-IE" sz="5400" b="1" dirty="0"/>
              <a:t>FYP </a:t>
            </a:r>
            <a:r>
              <a:rPr lang="en-IE" sz="5400" b="1"/>
              <a:t>Students</a:t>
            </a:r>
            <a:endParaRPr lang="en-IE" sz="5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2BE9E9-2E52-74AA-B06C-CB9D740EFDBC}"/>
              </a:ext>
            </a:extLst>
          </p:cNvPr>
          <p:cNvSpPr/>
          <p:nvPr/>
        </p:nvSpPr>
        <p:spPr>
          <a:xfrm>
            <a:off x="5181601" y="1797272"/>
            <a:ext cx="1049080" cy="64112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02CE37-FEEF-FE79-2EE4-6CF2861C70E2}"/>
              </a:ext>
            </a:extLst>
          </p:cNvPr>
          <p:cNvSpPr/>
          <p:nvPr/>
        </p:nvSpPr>
        <p:spPr>
          <a:xfrm>
            <a:off x="7779487" y="4834635"/>
            <a:ext cx="1747284" cy="64112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1C3EB4-0826-57BE-F7FA-FFED154747ED}"/>
              </a:ext>
            </a:extLst>
          </p:cNvPr>
          <p:cNvSpPr/>
          <p:nvPr/>
        </p:nvSpPr>
        <p:spPr>
          <a:xfrm>
            <a:off x="3435201" y="5232568"/>
            <a:ext cx="1907265" cy="711032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79757C-2786-4268-647C-E9EF3B46EBD7}"/>
              </a:ext>
            </a:extLst>
          </p:cNvPr>
          <p:cNvSpPr/>
          <p:nvPr/>
        </p:nvSpPr>
        <p:spPr>
          <a:xfrm>
            <a:off x="5952458" y="4284227"/>
            <a:ext cx="1907265" cy="711032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A382E6-839A-3CAF-D658-99589D774943}"/>
              </a:ext>
            </a:extLst>
          </p:cNvPr>
          <p:cNvSpPr/>
          <p:nvPr/>
        </p:nvSpPr>
        <p:spPr>
          <a:xfrm>
            <a:off x="6663267" y="2015155"/>
            <a:ext cx="1458924" cy="64112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B4DA68-621B-A2E9-B4C1-D7AB0D2F1E49}"/>
              </a:ext>
            </a:extLst>
          </p:cNvPr>
          <p:cNvSpPr/>
          <p:nvPr/>
        </p:nvSpPr>
        <p:spPr>
          <a:xfrm>
            <a:off x="9465739" y="889086"/>
            <a:ext cx="1458924" cy="64112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A4E1D-AE90-CF6C-7F08-3FD384BC5BA0}"/>
              </a:ext>
            </a:extLst>
          </p:cNvPr>
          <p:cNvSpPr/>
          <p:nvPr/>
        </p:nvSpPr>
        <p:spPr>
          <a:xfrm>
            <a:off x="5447166" y="1141897"/>
            <a:ext cx="1159890" cy="63720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0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A5B0BA-491C-4A96-2EC9-2ED11FD0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4" t="12248"/>
          <a:stretch/>
        </p:blipFill>
        <p:spPr>
          <a:xfrm>
            <a:off x="408363" y="410817"/>
            <a:ext cx="11375335" cy="63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8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3F4D3-1715-AE0C-DAFC-9C4F768C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Recommendations from FYP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2BEE-989B-8673-6AFA-BEEA1D3C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/>
              <a:t>Carefully select a project</a:t>
            </a:r>
          </a:p>
          <a:p>
            <a:r>
              <a:rPr lang="en-US" sz="1900"/>
              <a:t>Start early</a:t>
            </a:r>
          </a:p>
          <a:p>
            <a:r>
              <a:rPr lang="en-US" sz="1900"/>
              <a:t>Rewarding process</a:t>
            </a:r>
          </a:p>
          <a:p>
            <a:r>
              <a:rPr lang="en-US" sz="1900"/>
              <a:t>Bi / weekly meeting</a:t>
            </a:r>
          </a:p>
          <a:p>
            <a:r>
              <a:rPr lang="en-US" sz="1900"/>
              <a:t>Structured meetings</a:t>
            </a:r>
          </a:p>
          <a:p>
            <a:r>
              <a:rPr lang="en-US" sz="1900"/>
              <a:t>GPU availability</a:t>
            </a:r>
          </a:p>
          <a:p>
            <a:r>
              <a:rPr lang="en-US" sz="1900"/>
              <a:t>Balance your yearly workload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646833-F70C-92E5-6B4D-64647B2594C3}"/>
              </a:ext>
            </a:extLst>
          </p:cNvPr>
          <p:cNvSpPr txBox="1">
            <a:spLocks/>
          </p:cNvSpPr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Listen to your mentor</a:t>
            </a:r>
          </a:p>
          <a:p>
            <a:r>
              <a:rPr lang="en-US" sz="2000"/>
              <a:t>Get project sorted asap</a:t>
            </a:r>
          </a:p>
          <a:p>
            <a:r>
              <a:rPr lang="en-US" sz="2000"/>
              <a:t>Finish report 1 week early – proofread &amp; finesse</a:t>
            </a:r>
          </a:p>
          <a:p>
            <a:r>
              <a:rPr lang="en-US" sz="2000"/>
              <a:t>Write important notes regularly</a:t>
            </a:r>
          </a:p>
          <a:p>
            <a:r>
              <a:rPr lang="en-US" sz="2000"/>
              <a:t>Focus on report more than project</a:t>
            </a:r>
          </a:p>
        </p:txBody>
      </p:sp>
    </p:spTree>
    <p:extLst>
      <p:ext uri="{BB962C8B-B14F-4D97-AF65-F5344CB8AC3E}">
        <p14:creationId xmlns:p14="http://schemas.microsoft.com/office/powerpoint/2010/main" val="2633302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BEF7-C619-AC68-3961-855300498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87" y="139149"/>
            <a:ext cx="10561980" cy="65333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Take more modules in the Autumn semester to reduce pressure in Spring.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Proactively seek advice from your supervisor.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Start writing the final report in February to explore further avenues for research.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Allocate time for primary functionalities in semester 1 and document all research materials.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Manage project time effectively and consistently work towards progress.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Choose a topic of deep interest or passion for better engagement.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Overcome initial challenges and gain confidence as you progress.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Close the FYP Lab door to prevent interruptions.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Aim to complete significant tasks before Christmas and begin writing early.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Focus on meaningful business projects aligned with your skill set.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Plan and maintain a good schedule for success.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Select a topic of personal interest.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Set aside specific days for FYP work and maintain a diary.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Consider using CUDA and renting a GPU from vast.ai for machine learning models.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Apply for projects as soon as they become available and dedicate full effort.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Complete the report ahead of time and review for errors.</a:t>
            </a:r>
          </a:p>
          <a:p>
            <a:pPr marL="0" indent="0">
              <a:buNone/>
            </a:pPr>
            <a:r>
              <a:rPr lang="en-GB" sz="1900" b="0" i="1" dirty="0">
                <a:latin typeface="Arial" panose="020B0604020202020204" pitchFamily="34" charset="0"/>
                <a:cs typeface="Arial" panose="020B0604020202020204" pitchFamily="34" charset="0"/>
              </a:rPr>
              <a:t>- Carefully choose projects based on previous experience or desire to learn.</a:t>
            </a:r>
            <a:endParaRPr lang="en-IE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12E0E-95AE-0C9E-42A4-A035E1BB3512}"/>
              </a:ext>
            </a:extLst>
          </p:cNvPr>
          <p:cNvSpPr txBox="1"/>
          <p:nvPr/>
        </p:nvSpPr>
        <p:spPr>
          <a:xfrm rot="16200000">
            <a:off x="-1720028" y="3180972"/>
            <a:ext cx="4840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Do you have any advice You would like to give to next year's FPY students?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55663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93DE-26C3-2CA2-37D8-408A4252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Good Outcomes vs Bad 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F4DF-4AD9-753C-C529-66FF57016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Chose project early</a:t>
            </a:r>
          </a:p>
          <a:p>
            <a:r>
              <a:rPr lang="en-GB" dirty="0"/>
              <a:t>Stuck to realistic weekly plan</a:t>
            </a:r>
          </a:p>
          <a:p>
            <a:r>
              <a:rPr lang="en-GB" dirty="0"/>
              <a:t>Steady progress</a:t>
            </a:r>
          </a:p>
          <a:p>
            <a:r>
              <a:rPr lang="en-GB" dirty="0"/>
              <a:t>Detailed Interim Report</a:t>
            </a:r>
          </a:p>
          <a:p>
            <a:r>
              <a:rPr lang="en-GB" dirty="0"/>
              <a:t>Regular commits on GitLab</a:t>
            </a:r>
          </a:p>
          <a:p>
            <a:r>
              <a:rPr lang="en-GB" dirty="0"/>
              <a:t>Regular guidance on progress</a:t>
            </a:r>
          </a:p>
          <a:p>
            <a:r>
              <a:rPr lang="en-GB" dirty="0"/>
              <a:t>Started writing early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FDD53-AB09-0227-F4C8-A2DD1390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Didn’t choose a project</a:t>
            </a:r>
          </a:p>
          <a:p>
            <a:r>
              <a:rPr lang="en-GB"/>
              <a:t>Insufficient hours per week</a:t>
            </a:r>
          </a:p>
          <a:p>
            <a:r>
              <a:rPr lang="en-GB"/>
              <a:t>Last minute rush</a:t>
            </a:r>
          </a:p>
          <a:p>
            <a:r>
              <a:rPr lang="en-GB"/>
              <a:t>Interim report with little evidence</a:t>
            </a:r>
          </a:p>
          <a:p>
            <a:r>
              <a:rPr lang="en-GB"/>
              <a:t>Occasional commits on GitLab</a:t>
            </a:r>
          </a:p>
          <a:p>
            <a:r>
              <a:rPr lang="en-GB"/>
              <a:t>Occasional contact with supervisor</a:t>
            </a:r>
          </a:p>
          <a:p>
            <a:r>
              <a:rPr lang="en-GB"/>
              <a:t>Late to Start writing </a:t>
            </a:r>
          </a:p>
        </p:txBody>
      </p:sp>
    </p:spTree>
    <p:extLst>
      <p:ext uri="{BB962C8B-B14F-4D97-AF65-F5344CB8AC3E}">
        <p14:creationId xmlns:p14="http://schemas.microsoft.com/office/powerpoint/2010/main" val="2109883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3EABFA-CFE4-9EF4-B86F-566EB890308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2980922"/>
              </p:ext>
            </p:extLst>
          </p:nvPr>
        </p:nvGraphicFramePr>
        <p:xfrm>
          <a:off x="452997" y="0"/>
          <a:ext cx="6669699" cy="6873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1466">
                  <a:extLst>
                    <a:ext uri="{9D8B030D-6E8A-4147-A177-3AD203B41FA5}">
                      <a16:colId xmlns:a16="http://schemas.microsoft.com/office/drawing/2014/main" val="2782432490"/>
                    </a:ext>
                  </a:extLst>
                </a:gridCol>
                <a:gridCol w="959445">
                  <a:extLst>
                    <a:ext uri="{9D8B030D-6E8A-4147-A177-3AD203B41FA5}">
                      <a16:colId xmlns:a16="http://schemas.microsoft.com/office/drawing/2014/main" val="2692405582"/>
                    </a:ext>
                  </a:extLst>
                </a:gridCol>
                <a:gridCol w="1067772">
                  <a:extLst>
                    <a:ext uri="{9D8B030D-6E8A-4147-A177-3AD203B41FA5}">
                      <a16:colId xmlns:a16="http://schemas.microsoft.com/office/drawing/2014/main" val="492942329"/>
                    </a:ext>
                  </a:extLst>
                </a:gridCol>
                <a:gridCol w="727322">
                  <a:extLst>
                    <a:ext uri="{9D8B030D-6E8A-4147-A177-3AD203B41FA5}">
                      <a16:colId xmlns:a16="http://schemas.microsoft.com/office/drawing/2014/main" val="3629548008"/>
                    </a:ext>
                  </a:extLst>
                </a:gridCol>
                <a:gridCol w="696372">
                  <a:extLst>
                    <a:ext uri="{9D8B030D-6E8A-4147-A177-3AD203B41FA5}">
                      <a16:colId xmlns:a16="http://schemas.microsoft.com/office/drawing/2014/main" val="3268048985"/>
                    </a:ext>
                  </a:extLst>
                </a:gridCol>
                <a:gridCol w="727322">
                  <a:extLst>
                    <a:ext uri="{9D8B030D-6E8A-4147-A177-3AD203B41FA5}">
                      <a16:colId xmlns:a16="http://schemas.microsoft.com/office/drawing/2014/main" val="739916469"/>
                    </a:ext>
                  </a:extLst>
                </a:gridCol>
              </a:tblGrid>
              <a:tr h="24063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PROJECT: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WEEKLY-TRACKED PROJECT</a:t>
                      </a:r>
                      <a:endParaRPr lang="en-IE" sz="1200" b="1" i="0" u="none" strike="noStrike" dirty="0">
                        <a:solidFill>
                          <a:srgbClr val="93C47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661300949"/>
                  </a:ext>
                </a:extLst>
              </a:tr>
              <a:tr h="2021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Project Manager: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Your Name</a:t>
                      </a:r>
                      <a:endParaRPr lang="en-IE" sz="1200" b="1" i="0" u="none" strike="noStrike">
                        <a:solidFill>
                          <a:srgbClr val="93C47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2984062460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Today is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22/09/2025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1838647121"/>
                  </a:ext>
                </a:extLst>
              </a:tr>
              <a:tr h="48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Task name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Start date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End date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Planned Hours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Actual Hours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Progress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364253656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Choose a Project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22/09/2025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28/09/2025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10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101741505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Task 1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29/09/2025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05/10/2025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15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2811981515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Task 2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06/10/2025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12/10/2025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15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769910739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Task 3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13/10/2025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19/10/2025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15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523273240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Subtask 3.1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20/10/2025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26/10/2025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15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4067377889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Study Week - 32 hours?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27/10/2025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02/11/2025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30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661407066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03/11/2025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09/11/2025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15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00054552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10/11/2025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16/11/2025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15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247930251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17/11/2025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23/11/2025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15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140041557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Interim Report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24/11/2025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30/11/2025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16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62828011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01/12/2025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07/12/2025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20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76655055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08/12/2025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14/12/2025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10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562043519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Winter Exam Prep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15/12/2025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21/12/2025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3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650701521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Xmas</a:t>
                      </a:r>
                      <a:r>
                        <a:rPr lang="en-IE" sz="1200" u="none" strike="noStrike" dirty="0">
                          <a:effectLst/>
                        </a:rPr>
                        <a:t> Week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22/12/2025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28/12/2025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>
                          <a:effectLst/>
                        </a:rPr>
                        <a:t>0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12415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January Exam Prep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29/12/2025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04/01/2026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852897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January Exams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05/01/2026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11/01/2026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58755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January Exam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12/01/2026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18/01/2026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0%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55517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40 hours Possible here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19/01/2026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25/01/2026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35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546742787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26/01/2026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01/02/2026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2811908905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02/02/2026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08/02/2026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619216100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09/02/2026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15/02/2026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2376550463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16/02/2026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22/02/2026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324601561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23/02/2026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01/03/2026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433662728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Proof-read thesis. Create Video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02/03/2026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08/03/2026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90156027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 </a:t>
                      </a:r>
                      <a:endParaRPr lang="en-IE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09/03/2026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15/03/2026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25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0%</a:t>
                      </a:r>
                      <a:endParaRPr lang="en-IE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736679695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Study Week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16/03/2026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22/03/2026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b="1" u="none" strike="noStrike" dirty="0">
                          <a:effectLst/>
                        </a:rPr>
                        <a:t>10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 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0%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3092960492"/>
                  </a:ext>
                </a:extLst>
              </a:tr>
              <a:tr h="1665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3928068133"/>
                  </a:ext>
                </a:extLst>
              </a:tr>
              <a:tr h="1906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Planed Hours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384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0%</a:t>
                      </a:r>
                      <a:endParaRPr lang="en-IE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ctr"/>
                </a:tc>
                <a:extLst>
                  <a:ext uri="{0D108BD9-81ED-4DB2-BD59-A6C34878D82A}">
                    <a16:rowId xmlns:a16="http://schemas.microsoft.com/office/drawing/2014/main" val="1739364698"/>
                  </a:ext>
                </a:extLst>
              </a:tr>
              <a:tr h="269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5 ECTS target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150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334519525"/>
                  </a:ext>
                </a:extLst>
              </a:tr>
              <a:tr h="269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15 ECTS target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450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507" marR="3507" marT="3507" marB="0" anchor="b"/>
                </a:tc>
                <a:extLst>
                  <a:ext uri="{0D108BD9-81ED-4DB2-BD59-A6C34878D82A}">
                    <a16:rowId xmlns:a16="http://schemas.microsoft.com/office/drawing/2014/main" val="201514429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B2A018-79D3-A114-A5C1-B4B0FF0FA6AE}"/>
              </a:ext>
            </a:extLst>
          </p:cNvPr>
          <p:cNvSpPr txBox="1">
            <a:spLocks/>
          </p:cNvSpPr>
          <p:nvPr/>
        </p:nvSpPr>
        <p:spPr>
          <a:xfrm>
            <a:off x="7514580" y="1825625"/>
            <a:ext cx="4118238" cy="48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Expect to average 15-20 hrs/week</a:t>
            </a:r>
          </a:p>
          <a:p>
            <a:r>
              <a:rPr lang="en-IE" dirty="0"/>
              <a:t>Study week offer </a:t>
            </a:r>
            <a:r>
              <a:rPr lang="en-IE"/>
              <a:t>greater flexibility</a:t>
            </a:r>
            <a:endParaRPr lang="en-IE" dirty="0"/>
          </a:p>
          <a:p>
            <a:r>
              <a:rPr lang="en-IE" dirty="0"/>
              <a:t>Suggest 0 hrs/week around exams</a:t>
            </a:r>
          </a:p>
        </p:txBody>
      </p:sp>
    </p:spTree>
    <p:extLst>
      <p:ext uri="{BB962C8B-B14F-4D97-AF65-F5344CB8AC3E}">
        <p14:creationId xmlns:p14="http://schemas.microsoft.com/office/powerpoint/2010/main" val="225096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CF910-583C-907A-D628-C1C6C6C9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E" sz="7200"/>
              <a:t>Plagiarism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0EACD-11E7-C9C0-7A3B-87A2B9AD1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IE" sz="2000"/>
              <a:t>Presenting the work of others as you own is against University policy</a:t>
            </a:r>
          </a:p>
          <a:p>
            <a:r>
              <a:rPr lang="en-IE" sz="2000"/>
              <a:t>The reader must be able to </a:t>
            </a:r>
            <a:r>
              <a:rPr lang="en-IE" sz="2000" b="1"/>
              <a:t>clearly </a:t>
            </a:r>
            <a:r>
              <a:rPr lang="en-IE" sz="2000"/>
              <a:t>distinguish between your own work and the work of others.</a:t>
            </a:r>
          </a:p>
          <a:p>
            <a:r>
              <a:rPr lang="en-IE" sz="2000"/>
              <a:t>If you use the work of others, either as a direct copy, or summarising or using their ideas, you must (a) cite their work at every place where you make use of it, and (b) include a full reference to their work.</a:t>
            </a:r>
          </a:p>
          <a:p>
            <a:r>
              <a:rPr lang="en-IE" sz="2000"/>
              <a:t>See the university Plagiarism policy</a:t>
            </a:r>
          </a:p>
          <a:p>
            <a:endParaRPr lang="en-IE" sz="2000"/>
          </a:p>
        </p:txBody>
      </p:sp>
    </p:spTree>
    <p:extLst>
      <p:ext uri="{BB962C8B-B14F-4D97-AF65-F5344CB8AC3E}">
        <p14:creationId xmlns:p14="http://schemas.microsoft.com/office/powerpoint/2010/main" val="413926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909B9-F0DE-480B-2E2F-A157FE74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tx2"/>
                </a:solidFill>
              </a:rPr>
              <a:t>GenAI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1402C4E6-B31C-44FE-3AA4-6EB2CBA8C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DEEAB-D4A7-02A0-C5A8-F005A5A9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IE" sz="1400">
                <a:solidFill>
                  <a:schemeClr val="tx2"/>
                </a:solidFill>
              </a:rPr>
              <a:t>The department is fully supportive of GenAI use</a:t>
            </a:r>
          </a:p>
          <a:p>
            <a:pPr lvl="1"/>
            <a:r>
              <a:rPr lang="en-IE" sz="1400">
                <a:solidFill>
                  <a:schemeClr val="tx2"/>
                </a:solidFill>
              </a:rPr>
              <a:t>Your supervisor will determine the level of use for your project</a:t>
            </a:r>
          </a:p>
          <a:p>
            <a:pPr lvl="1"/>
            <a:r>
              <a:rPr lang="en-IE" sz="1400">
                <a:solidFill>
                  <a:schemeClr val="tx2"/>
                </a:solidFill>
              </a:rPr>
              <a:t>University policy identifies 4 levels, including “unrestricted”</a:t>
            </a:r>
          </a:p>
          <a:p>
            <a:pPr lvl="2"/>
            <a:r>
              <a:rPr lang="en-IE" sz="1400">
                <a:solidFill>
                  <a:schemeClr val="tx2"/>
                </a:solidFill>
              </a:rPr>
              <a:t>This comes with a </a:t>
            </a:r>
            <a:r>
              <a:rPr lang="en-IE" sz="1400" b="1">
                <a:solidFill>
                  <a:schemeClr val="tx2"/>
                </a:solidFill>
              </a:rPr>
              <a:t>serious onus on students</a:t>
            </a:r>
          </a:p>
          <a:p>
            <a:r>
              <a:rPr lang="en-IE" sz="1400">
                <a:solidFill>
                  <a:schemeClr val="tx2"/>
                </a:solidFill>
              </a:rPr>
              <a:t>Record details in electronic notebook (with dates)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1400" b="1">
                <a:solidFill>
                  <a:schemeClr val="tx2"/>
                </a:solidFill>
              </a:rPr>
              <a:t>Adopted </a:t>
            </a:r>
            <a:r>
              <a:rPr lang="en-IE" sz="1400">
                <a:solidFill>
                  <a:schemeClr val="tx2"/>
                </a:solidFill>
              </a:rPr>
              <a:t>GenAI outputs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1400" b="1">
                <a:solidFill>
                  <a:schemeClr val="tx2"/>
                </a:solidFill>
              </a:rPr>
              <a:t>Rejected </a:t>
            </a:r>
            <a:r>
              <a:rPr lang="en-IE" sz="1400">
                <a:solidFill>
                  <a:schemeClr val="tx2"/>
                </a:solidFill>
              </a:rPr>
              <a:t>GenAI outputs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1400" b="1">
                <a:solidFill>
                  <a:schemeClr val="tx2"/>
                </a:solidFill>
              </a:rPr>
              <a:t>Adapted </a:t>
            </a:r>
            <a:r>
              <a:rPr lang="en-IE" sz="1400">
                <a:solidFill>
                  <a:schemeClr val="tx2"/>
                </a:solidFill>
              </a:rPr>
              <a:t>GenAI ouptuts</a:t>
            </a:r>
          </a:p>
          <a:p>
            <a:r>
              <a:rPr lang="en-IE" sz="1400">
                <a:solidFill>
                  <a:schemeClr val="tx2"/>
                </a:solidFill>
              </a:rPr>
              <a:t>FYP lab has machines dedicated to running open source GenAI</a:t>
            </a:r>
          </a:p>
          <a:p>
            <a:r>
              <a:rPr lang="en-IE" sz="1400">
                <a:solidFill>
                  <a:schemeClr val="tx2"/>
                </a:solidFill>
              </a:rPr>
              <a:t>MS Copilot is the official GenAI partner of the university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25823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CFA72-1971-7084-00F7-5D508674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tx2"/>
                </a:solidFill>
              </a:rPr>
              <a:t>Continuous Evidence of Authenticity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040C5-C97A-7168-50C6-EC0616191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IE" sz="1500">
                <a:solidFill>
                  <a:schemeClr val="tx2"/>
                </a:solidFill>
              </a:rPr>
              <a:t>It is your responsibility to engage with the FYP process and the resulting outputs (thesis, code repo, results data…)</a:t>
            </a:r>
          </a:p>
          <a:p>
            <a:pPr lvl="1"/>
            <a:r>
              <a:rPr lang="en-IE" sz="1500">
                <a:solidFill>
                  <a:schemeClr val="tx2"/>
                </a:solidFill>
              </a:rPr>
              <a:t>weekly meeting, Gitlab, lab notes/notebook</a:t>
            </a:r>
          </a:p>
          <a:p>
            <a:r>
              <a:rPr lang="en-IE" sz="1500">
                <a:solidFill>
                  <a:schemeClr val="tx2"/>
                </a:solidFill>
              </a:rPr>
              <a:t>so that you can assure the graders that you were the originator of all the works you presented.</a:t>
            </a:r>
          </a:p>
          <a:p>
            <a:r>
              <a:rPr lang="en-IE" sz="1500">
                <a:solidFill>
                  <a:schemeClr val="tx2"/>
                </a:solidFill>
              </a:rPr>
              <a:t>The FYP final presentation &amp; interview should only be used as a last resort. You should already have provided the Dept with sufficient evidence to assure us of the authenticity of what you present.</a:t>
            </a:r>
          </a:p>
          <a:p>
            <a:r>
              <a:rPr lang="en-IE" sz="1500">
                <a:solidFill>
                  <a:schemeClr val="tx2"/>
                </a:solidFill>
              </a:rPr>
              <a:t>NOTE: The external examiner may request to speak with students at the end of the (summer) grading process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43495189-B9A6-4116-A6B6-FA706D020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64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E39CA6AD-E46D-6D15-2530-219AB798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6" r="22620" b="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BBDC7-2F8E-AFA2-DAB2-EBE93F89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E" sz="4000"/>
              <a:t>Additional Notes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331A-9689-359E-E136-6A6F9D429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6" y="2743200"/>
            <a:ext cx="5335003" cy="3496878"/>
          </a:xfrm>
        </p:spPr>
        <p:txBody>
          <a:bodyPr anchor="ctr">
            <a:normAutofit/>
          </a:bodyPr>
          <a:lstStyle/>
          <a:p>
            <a:r>
              <a:rPr lang="en-IE" sz="2000" dirty="0"/>
              <a:t>FYP lectures will occur SOME Fridays 11-12</a:t>
            </a:r>
          </a:p>
          <a:p>
            <a:r>
              <a:rPr lang="en-IE" sz="2000" dirty="0"/>
              <a:t>Other guides and notes available on Moodle.</a:t>
            </a:r>
          </a:p>
          <a:p>
            <a:endParaRPr lang="en-IE" sz="2000" dirty="0"/>
          </a:p>
          <a:p>
            <a:r>
              <a:rPr lang="en-IE" sz="2000" dirty="0"/>
              <a:t>Find a project.</a:t>
            </a:r>
          </a:p>
          <a:p>
            <a:r>
              <a:rPr lang="en-IE" sz="2000" dirty="0"/>
              <a:t>Get started.</a:t>
            </a:r>
          </a:p>
          <a:p>
            <a:r>
              <a:rPr lang="en-IE" sz="2000" dirty="0"/>
              <a:t>Do some targeted reading. </a:t>
            </a:r>
          </a:p>
          <a:p>
            <a:r>
              <a:rPr lang="en-IE" sz="2000" dirty="0"/>
              <a:t>Do some work/programming.</a:t>
            </a:r>
          </a:p>
          <a:p>
            <a:r>
              <a:rPr lang="en-IE" sz="2000" dirty="0"/>
              <a:t>Take guidance. Record your progress.</a:t>
            </a:r>
          </a:p>
        </p:txBody>
      </p:sp>
    </p:spTree>
    <p:extLst>
      <p:ext uri="{BB962C8B-B14F-4D97-AF65-F5344CB8AC3E}">
        <p14:creationId xmlns:p14="http://schemas.microsoft.com/office/powerpoint/2010/main" val="2387636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F5CF9-2876-7BD9-D166-52E239EC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871442"/>
            <a:ext cx="2924843" cy="3172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Questions / Q&amp;A</a:t>
            </a:r>
          </a:p>
        </p:txBody>
      </p:sp>
      <p:pic>
        <p:nvPicPr>
          <p:cNvPr id="4" name="Content Placeholder 3" descr="Use These Three Questions for Instructional Coaching">
            <a:extLst>
              <a:ext uri="{FF2B5EF4-FFF2-40B4-BE49-F238E27FC236}">
                <a16:creationId xmlns:a16="http://schemas.microsoft.com/office/drawing/2014/main" id="{AE98CE62-7238-3303-FF16-029E45EB80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0716" y="1613692"/>
            <a:ext cx="6106987" cy="363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63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4d1d33c9-0a54-4bfb-b106-fe11e71f194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0624ECCFC0034D908611E64ADEDEB5" ma:contentTypeVersion="12" ma:contentTypeDescription="Create a new document." ma:contentTypeScope="" ma:versionID="f5908775561cc4cf28979ab93bed3b5a">
  <xsd:schema xmlns:xsd="http://www.w3.org/2001/XMLSchema" xmlns:xs="http://www.w3.org/2001/XMLSchema" xmlns:p="http://schemas.microsoft.com/office/2006/metadata/properties" xmlns:ns2="f8acccbb-994e-4586-94ff-99a558525876" xmlns:ns3="f0db1bf9-6d06-463a-b338-536ba3b246c1" targetNamespace="http://schemas.microsoft.com/office/2006/metadata/properties" ma:root="true" ma:fieldsID="8a505b0fa96e7b44388a9ab42e13ca0f" ns2:_="" ns3:_="">
    <xsd:import namespace="f8acccbb-994e-4586-94ff-99a558525876"/>
    <xsd:import namespace="f0db1bf9-6d06-463a-b338-536ba3b246c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ccbb-994e-4586-94ff-99a55852587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db1bf9-6d06-463a-b338-536ba3b246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046E24-E267-4906-9258-F26ADBDE47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EE95FD-27A8-4FE3-9D35-7B9E3BF8CF5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8acccbb-994e-4586-94ff-99a558525876"/>
    <ds:schemaRef ds:uri="f0db1bf9-6d06-463a-b338-536ba3b246c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6E478D-89D7-424D-94AB-1CD403904E98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f0db1bf9-6d06-463a-b338-536ba3b246c1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acccbb-994e-4586-94ff-99a55852587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1360</Words>
  <Application>Microsoft Office PowerPoint</Application>
  <PresentationFormat>Widescreen</PresentationFormat>
  <Paragraphs>326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Calibri Light</vt:lpstr>
      <vt:lpstr>Courier New</vt:lpstr>
      <vt:lpstr>Office Theme</vt:lpstr>
      <vt:lpstr>1_Office Theme</vt:lpstr>
      <vt:lpstr>Computer Science Final Year Project 2025-26</vt:lpstr>
      <vt:lpstr>PowerPoint Presentation</vt:lpstr>
      <vt:lpstr>Supervisor, Course Coordinator and HOD</vt:lpstr>
      <vt:lpstr>What is a Final Year Project?</vt:lpstr>
      <vt:lpstr>Project Deadline – March 16th 2026 @ 23:59</vt:lpstr>
      <vt:lpstr>Timeline and other deadlines</vt:lpstr>
      <vt:lpstr>ECTS and Hours</vt:lpstr>
      <vt:lpstr>FYP Part 1 – Find a Project</vt:lpstr>
      <vt:lpstr>Interim Report</vt:lpstr>
      <vt:lpstr>FYP Exit Survey 2023-24</vt:lpstr>
      <vt:lpstr>FYP Lab</vt:lpstr>
      <vt:lpstr>From Previous FYP Students</vt:lpstr>
      <vt:lpstr>PowerPoint Presentation</vt:lpstr>
      <vt:lpstr>Recommendations from FYP Students</vt:lpstr>
      <vt:lpstr>PowerPoint Presentation</vt:lpstr>
      <vt:lpstr>Good Outcomes vs Bad Outcomes</vt:lpstr>
      <vt:lpstr>PowerPoint Presentation</vt:lpstr>
      <vt:lpstr>Plagiarism </vt:lpstr>
      <vt:lpstr>GenAI</vt:lpstr>
      <vt:lpstr>Continuous Evidence of Authenticity</vt:lpstr>
      <vt:lpstr>Additional Notes </vt:lpstr>
      <vt:lpstr>Questions /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2024-25</dc:title>
  <dc:creator>Diarmuid O'Donoghue</dc:creator>
  <cp:lastModifiedBy>Rory O'Donoghue</cp:lastModifiedBy>
  <cp:revision>39</cp:revision>
  <dcterms:created xsi:type="dcterms:W3CDTF">2024-09-26T18:16:39Z</dcterms:created>
  <dcterms:modified xsi:type="dcterms:W3CDTF">2025-10-13T08:38:59Z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0x0101003E0624ECCFC0034D908611E64ADEDEB5</vt:lpwstr>
  </property>
</Properties>
</file>